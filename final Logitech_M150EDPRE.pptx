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67" r:id="rId4"/>
    <p:sldId id="258" r:id="rId5"/>
    <p:sldId id="257" r:id="rId6"/>
    <p:sldId id="259" r:id="rId7"/>
    <p:sldId id="260" r:id="rId8"/>
    <p:sldId id="261" r:id="rId9"/>
    <p:sldId id="262" r:id="rId10"/>
    <p:sldId id="264" r:id="rId11"/>
    <p:sldId id="268" r:id="rId12"/>
    <p:sldId id="263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C8DBDE-67B3-42B1-A104-4CB955E44B98}" v="1" dt="2026-10-08T03:46:34.22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-437" y="-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quarian Consultants" userId="777e3e3638d76f1c" providerId="LiveId" clId="{A9C6B82A-F22B-40E1-96E1-AB49CF79CD81}"/>
    <pc:docChg chg="modSld">
      <pc:chgData name="Asquarian Consultants" userId="777e3e3638d76f1c" providerId="LiveId" clId="{A9C6B82A-F22B-40E1-96E1-AB49CF79CD81}" dt="2026-10-08T03:46:51.221" v="8"/>
      <pc:docMkLst>
        <pc:docMk/>
      </pc:docMkLst>
      <pc:sldChg chg="addSp delSp modSp mod">
        <pc:chgData name="Asquarian Consultants" userId="777e3e3638d76f1c" providerId="LiveId" clId="{A9C6B82A-F22B-40E1-96E1-AB49CF79CD81}" dt="2026-10-08T03:46:51.221" v="8"/>
        <pc:sldMkLst>
          <pc:docMk/>
          <pc:sldMk cId="0" sldId="262"/>
        </pc:sldMkLst>
        <pc:spChg chg="del mod">
          <ac:chgData name="Asquarian Consultants" userId="777e3e3638d76f1c" providerId="LiveId" clId="{A9C6B82A-F22B-40E1-96E1-AB49CF79CD81}" dt="2026-10-08T03:46:51.221" v="8"/>
          <ac:spMkLst>
            <pc:docMk/>
            <pc:sldMk cId="0" sldId="262"/>
            <ac:spMk id="6" creationId="{00000000-0000-0000-0000-000000000000}"/>
          </ac:spMkLst>
        </pc:spChg>
        <pc:graphicFrameChg chg="add mod modGraphic">
          <ac:chgData name="Asquarian Consultants" userId="777e3e3638d76f1c" providerId="LiveId" clId="{A9C6B82A-F22B-40E1-96E1-AB49CF79CD81}" dt="2026-10-08T03:46:47.718" v="6" actId="14100"/>
          <ac:graphicFrameMkLst>
            <pc:docMk/>
            <pc:sldMk cId="0" sldId="262"/>
            <ac:graphicFrameMk id="8" creationId="{D9C4CE9A-7C0E-CF16-9987-1A1EF4FB39E5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22960" y="2057400"/>
            <a:ext cx="603504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E775D"/>
                </a:solidFill>
                <a:latin typeface="Aptos"/>
              </a:defRPr>
            </a:pPr>
            <a:r>
              <a:t>LOGITECH M150 </a:t>
            </a:r>
            <a:r>
              <a:rPr/>
              <a:t>WIRELESS </a:t>
            </a:r>
            <a:r>
              <a:rPr smtClean="0"/>
              <a:t>MOUSE</a:t>
            </a:r>
            <a:endParaRPr/>
          </a:p>
          <a:p>
            <a:pPr>
              <a:defRPr sz="1300" b="1">
                <a:solidFill>
                  <a:srgbClr val="9E775D"/>
                </a:solidFill>
                <a:latin typeface="Aptos"/>
              </a:defRPr>
            </a:pPr>
            <a:r>
              <a:rPr lang="en-US" dirty="0" smtClean="0"/>
              <a:t>GROUP </a:t>
            </a:r>
            <a:r>
              <a:rPr smtClean="0"/>
              <a:t>N</a:t>
            </a:r>
            <a:r>
              <a:rPr lang="en-US" dirty="0" smtClean="0"/>
              <a:t>o. </a:t>
            </a:r>
            <a:r>
              <a:rPr smtClean="0"/>
              <a:t>: </a:t>
            </a:r>
            <a:r>
              <a:rPr lang="en-US" dirty="0" smtClean="0"/>
              <a:t>40</a:t>
            </a:r>
            <a:r>
              <a:rPr smtClean="0"/>
              <a:t>    </a:t>
            </a:r>
            <a:endParaRPr lang="en-US" dirty="0" smtClean="0"/>
          </a:p>
          <a:p>
            <a:pPr>
              <a:defRPr sz="1300" b="1">
                <a:solidFill>
                  <a:srgbClr val="9E775D"/>
                </a:solidFill>
                <a:latin typeface="Aptos"/>
              </a:defRPr>
            </a:pPr>
            <a:r>
              <a:rPr lang="en-US" dirty="0" smtClean="0"/>
              <a:t>Members -  </a:t>
            </a:r>
            <a:r>
              <a:rPr lang="en-US" dirty="0" err="1" smtClean="0"/>
              <a:t>Agrim</a:t>
            </a:r>
            <a:r>
              <a:rPr lang="en-US" dirty="0" smtClean="0"/>
              <a:t> </a:t>
            </a:r>
            <a:r>
              <a:rPr lang="en-US" dirty="0" err="1" smtClean="0"/>
              <a:t>Vasishth</a:t>
            </a:r>
            <a:r>
              <a:rPr lang="en-US" dirty="0" smtClean="0"/>
              <a:t> , </a:t>
            </a:r>
            <a:r>
              <a:rPr lang="en-US" dirty="0" err="1" smtClean="0"/>
              <a:t>Vivek</a:t>
            </a:r>
            <a:r>
              <a:rPr lang="en-US" dirty="0" smtClean="0"/>
              <a:t> </a:t>
            </a:r>
            <a:r>
              <a:rPr lang="en-US" dirty="0" err="1" smtClean="0"/>
              <a:t>Banoula</a:t>
            </a:r>
            <a:r>
              <a:rPr lang="en-US" dirty="0" smtClean="0"/>
              <a:t> , Dixit Raj ,</a:t>
            </a:r>
          </a:p>
          <a:p>
            <a:pPr>
              <a:defRPr sz="1300" b="1">
                <a:solidFill>
                  <a:srgbClr val="9E775D"/>
                </a:solidFill>
                <a:latin typeface="Aptos"/>
              </a:defRPr>
            </a:pPr>
            <a:r>
              <a:rPr lang="en-US" dirty="0" smtClean="0"/>
              <a:t> </a:t>
            </a:r>
            <a:r>
              <a:rPr lang="en-US" dirty="0" err="1" smtClean="0"/>
              <a:t>Shourya</a:t>
            </a:r>
            <a:r>
              <a:rPr lang="en-US" dirty="0" smtClean="0"/>
              <a:t> </a:t>
            </a:r>
            <a:r>
              <a:rPr lang="en-US" dirty="0" err="1" smtClean="0"/>
              <a:t>Pratap</a:t>
            </a:r>
            <a:r>
              <a:rPr lang="en-US" dirty="0" smtClean="0"/>
              <a:t> Singh , </a:t>
            </a:r>
            <a:r>
              <a:rPr lang="en-US" dirty="0" err="1" smtClean="0"/>
              <a:t>Tarnav</a:t>
            </a:r>
            <a:r>
              <a:rPr lang="en-US" dirty="0" smtClean="0"/>
              <a:t> Singh </a:t>
            </a:r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3349720"/>
            <a:ext cx="57607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82D27"/>
                </a:solidFill>
                <a:latin typeface="Aptos"/>
              </a:defRPr>
            </a:pPr>
            <a:r>
              <a:t>OBJECTIVE: To inspect the Logitech M150, identify its visible hardware, and explain how optical tracking, control, wireless communication and power management work together.</a:t>
            </a:r>
          </a:p>
          <a:p>
            <a:pPr>
              <a:defRPr sz="1200">
                <a:solidFill>
                  <a:srgbClr val="382D27"/>
                </a:solidFill>
                <a:latin typeface="Aptos"/>
              </a:defRPr>
            </a:pPr>
            <a:endParaRPr/>
          </a:p>
          <a:p>
            <a:pPr>
              <a:defRPr sz="1200">
                <a:solidFill>
                  <a:srgbClr val="382D27"/>
                </a:solidFill>
                <a:latin typeface="Aptos"/>
              </a:defRPr>
            </a:pPr>
            <a:r>
              <a:t>The mouse is a compact wireless pointing device using optical tracking, a control IC, 2.4 GHz communication and battery power. Dimensions recorded in the report: 80 g; 37 mm high × 62 mm wide × 102 mm deep.</a:t>
            </a:r>
          </a:p>
        </p:txBody>
      </p:sp>
      <p:pic>
        <p:nvPicPr>
          <p:cNvPr id="7" name="Picture 6" descr="_ppt_photo_m150_teardown_photo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4592" y="1300000"/>
            <a:ext cx="3000000" cy="4200000"/>
          </a:xfrm>
          <a:prstGeom prst="roundRect">
            <a:avLst>
              <a:gd name="adj" fmla="val 3500"/>
            </a:avLst>
          </a:prstGeom>
          <a:ln w="12700">
            <a:solidFill>
              <a:srgbClr val="D6CCB8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8594592" y="5590000"/>
            <a:ext cx="30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>
                <a:solidFill>
                  <a:srgbClr val="8A8070"/>
                </a:solidFill>
                <a:latin typeface="Calibri"/>
              </a:rPr>
              <a:t>Actual mouse before teardown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713232"/>
            <a:ext cx="73152" cy="5303520"/>
          </a:xfrm>
          <a:prstGeom prst="rect">
            <a:avLst/>
          </a:prstGeom>
          <a:solidFill>
            <a:srgbClr val="9E7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850391"/>
            <a:ext cx="5669280" cy="1234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2800" b="1">
                <a:solidFill>
                  <a:srgbClr val="382D27"/>
                </a:solidFill>
                <a:latin typeface="Aptos Display"/>
              </a:defRPr>
            </a:pPr>
            <a:r>
              <a:t>REVERSE ENGINEERING</a:t>
            </a:r>
          </a:p>
          <a:p>
            <a:pPr>
              <a:spcAft>
                <a:spcPts val="0"/>
              </a:spcAft>
              <a:defRPr sz="2400" b="1">
                <a:solidFill>
                  <a:srgbClr val="382D27"/>
                </a:solidFill>
                <a:latin typeface="Aptos Display"/>
              </a:defRPr>
            </a:pPr>
            <a:r>
              <a:t>ACTIVITY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0135" y="4931632"/>
            <a:ext cx="5486400" cy="1828800"/>
          </a:xfrm>
          <a:prstGeom prst="roundRect">
            <a:avLst/>
          </a:prstGeom>
          <a:solidFill>
            <a:srgbClr val="FFF9F1"/>
          </a:solidFill>
          <a:ln>
            <a:solidFill>
              <a:srgbClr val="DC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09728" rIns="164592" bIns="91440" rtlCol="0" anchor="ctr"/>
          <a:lstStyle/>
          <a:p>
            <a:pPr algn="ctr">
              <a:spcAft>
                <a:spcPts val="700"/>
              </a:spcAft>
              <a:defRPr sz="1100" b="1">
                <a:solidFill>
                  <a:srgbClr val="9E775D"/>
                </a:solidFill>
                <a:latin typeface="Aptos"/>
              </a:defRPr>
            </a:pPr>
            <a:r>
              <a:t>PROJECT OBJECTIVE</a:t>
            </a:r>
          </a:p>
          <a:p>
            <a:pPr>
              <a:defRPr sz="1300">
                <a:solidFill>
                  <a:srgbClr val="382D27"/>
                </a:solidFill>
                <a:latin typeface="Aptos"/>
              </a:defRPr>
            </a:pPr>
            <a:r>
              <a:t>To inspect the mouse, identify its visible hardware and explain how optical tracking, control, wireless communication and battery power work together.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155680" cy="701731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endParaRPr lang="en-US" dirty="0" smtClean="0"/>
          </a:p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rPr smtClean="0"/>
              <a:t>1</a:t>
            </a:r>
            <a:r>
              <a:t>. COMPONENTS AND 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18488"/>
            <a:ext cx="5212080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9E775D"/>
                </a:solidFill>
                <a:latin typeface="Aptos"/>
              </a:defRPr>
            </a:pPr>
            <a:r>
              <a:t>OBSERVED PARTS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15396"/>
            <a:ext cx="4937760" cy="35661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Main PCB and RF/control IC (visible marking noted)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Optical navigation sensor and lens opening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Left/right click switches and scroll-wheel mechanism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Crystal/resonator, ceramic capacitors and zero-ohm links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Battery contacts, LED and USB receiver (separate unit)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Plastic shell, clips and internal supports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18488"/>
            <a:ext cx="5029200" cy="38404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9E775D"/>
                </a:solidFill>
                <a:latin typeface="Aptos"/>
              </a:defRPr>
            </a:pPr>
            <a:r>
              <a:t>TOOLS /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277374"/>
            <a:ext cx="4846320" cy="35661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Small Phillips screwdriver and plastic opening tool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Phone/camera for each teardown stage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Tweezers and magnifier for component markings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ESD-safe work surface and basic precautions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Notebook/table for reference designators and observations</a:t>
            </a:r>
          </a:p>
          <a:p>
            <a:pPr>
              <a:spcAft>
                <a:spcPts val="400"/>
              </a:spcAft>
              <a:defRPr sz="1300" b="0">
                <a:solidFill>
                  <a:srgbClr val="382D27"/>
                </a:solidFill>
                <a:latin typeface="Aptos"/>
              </a:defRPr>
            </a:pPr>
            <a:r>
              <a:t>• KiCad for a conceptual schematic; actual OEM firmware and full pinout were not available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425196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2. CIRCUIT DIAGRAM — CONCEPTUAL RECONSTRUCTION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28016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9E775D"/>
                </a:solidFill>
                <a:latin typeface="Aptos"/>
              </a:defRPr>
            </a:pPr>
            <a:r>
              <a:t>Battery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1188720" cy="6858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1">
                <a:solidFill>
                  <a:srgbClr val="382D27"/>
                </a:solidFill>
                <a:latin typeface="Aptos"/>
              </a:defRPr>
            </a:pPr>
            <a:r>
              <a:t>1 × AA</a:t>
            </a:r>
            <a:br/>
            <a:r>
              <a:t>VBAT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508760"/>
            <a:ext cx="1143000" cy="6858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000" b="1">
                <a:solidFill>
                  <a:srgbClr val="382D27"/>
                </a:solidFill>
                <a:latin typeface="Aptos"/>
              </a:defRPr>
            </a:pPr>
            <a:r>
              <a:t>SW1</a:t>
            </a:r>
            <a:br/>
            <a:r>
              <a:t>Power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463040"/>
            <a:ext cx="1508760" cy="6858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000" b="1">
                <a:solidFill>
                  <a:srgbClr val="382D27"/>
                </a:solidFill>
                <a:latin typeface="Aptos"/>
              </a:defRPr>
            </a:pPr>
            <a:r>
              <a:t>VDD rail</a:t>
            </a:r>
            <a:br/>
            <a:r>
              <a:t>(local supply)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65960" y="1847088"/>
            <a:ext cx="5943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03320" y="1847088"/>
            <a:ext cx="5943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047488" y="2194560"/>
            <a:ext cx="0" cy="41148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389120" y="2606040"/>
            <a:ext cx="1325880" cy="566928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000" b="0">
                <a:solidFill>
                  <a:srgbClr val="382D27"/>
                </a:solidFill>
                <a:latin typeface="Aptos"/>
              </a:defRPr>
            </a:pPr>
            <a:r>
              <a:t>C1 100 nF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47488" y="3172968"/>
            <a:ext cx="0" cy="283464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47488" y="3456432"/>
            <a:ext cx="667512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394960" y="3319272"/>
            <a:ext cx="731520" cy="2743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900" b="1">
                <a:solidFill>
                  <a:srgbClr val="755B4D"/>
                </a:solidFill>
                <a:latin typeface="Aptos"/>
              </a:defRPr>
            </a:pPr>
            <a:r>
              <a:t>GND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417320"/>
            <a:ext cx="2148840" cy="118872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200" b="1">
                <a:solidFill>
                  <a:srgbClr val="382D27"/>
                </a:solidFill>
                <a:latin typeface="Aptos"/>
              </a:defRPr>
            </a:pPr>
            <a:r>
              <a:t>U1 — CONTROL / RF IC</a:t>
            </a:r>
            <a:br/>
            <a:r>
              <a:t>processing + 2.4 GHz link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06440" y="1847088"/>
            <a:ext cx="68580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9235440" y="1508760"/>
            <a:ext cx="1965960" cy="9144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1">
                <a:solidFill>
                  <a:srgbClr val="382D27"/>
                </a:solidFill>
                <a:latin typeface="Aptos"/>
              </a:defRPr>
            </a:pPr>
            <a:r>
              <a:t>PCB antenna</a:t>
            </a:r>
            <a:br/>
            <a:r>
              <a:t>RF link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41080" y="1847088"/>
            <a:ext cx="5943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09360" y="3657600"/>
            <a:ext cx="1828800" cy="82296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1">
                <a:solidFill>
                  <a:srgbClr val="382D27"/>
                </a:solidFill>
                <a:latin typeface="Aptos"/>
              </a:defRPr>
            </a:pPr>
            <a:r>
              <a:t>Optical sensor</a:t>
            </a:r>
            <a:br/>
            <a:r>
              <a:t>image / motion data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223760" y="2606040"/>
            <a:ext cx="0" cy="105156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360920" y="2880360"/>
            <a:ext cx="1143000" cy="36576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755B4D"/>
                </a:solidFill>
                <a:latin typeface="Aptos"/>
              </a:defRPr>
            </a:pPr>
            <a:r>
              <a:t>sensor bus*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0" y="3657600"/>
            <a:ext cx="1828800" cy="82296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1">
                <a:solidFill>
                  <a:srgbClr val="382D27"/>
                </a:solidFill>
                <a:latin typeface="Aptos"/>
              </a:defRPr>
            </a:pPr>
            <a:r>
              <a:t>Left / right</a:t>
            </a:r>
            <a:br/>
            <a:r>
              <a:t>click switches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572000" y="4069080"/>
            <a:ext cx="17373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052560" y="3657600"/>
            <a:ext cx="1828800" cy="82296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1">
                <a:solidFill>
                  <a:srgbClr val="382D27"/>
                </a:solidFill>
                <a:latin typeface="Aptos"/>
              </a:defRPr>
            </a:pPr>
            <a:r>
              <a:t>Scroll encoder /</a:t>
            </a:r>
            <a:br/>
            <a:r>
              <a:t>wheel input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641080" y="2240280"/>
            <a:ext cx="12801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921240" y="2240280"/>
            <a:ext cx="0" cy="141732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777240" y="5074920"/>
            <a:ext cx="10607040" cy="209288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755B4D"/>
                </a:solidFill>
                <a:latin typeface="Aptos"/>
              </a:defRPr>
            </a:pPr>
            <a:r>
              <a:rPr lang="en-US" dirty="0" smtClean="0"/>
              <a:t>\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3. INTERNAL SUBSYSTEMS &amp; SIGNAL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8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470000" cy="3439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OPTICAL TRACKING — An LED illuminates the surface and a CMOS sensor captures successive surface images. Changes between images are interpreted as X/Y movement.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MCU / CONTROL — The microcontroller processes movement and button information. It also handles switch debouncing and prepares clean digital data for transmission.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2.4 GHz RF — Processed information is converted into wireless packets and sent to the USB receiver. The report identifies frequency-hopping operation within this subsystem.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POWER MANAGEMENT — Battery energy is regulated and distributed while the system changes power states depending on user activity.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Overall signal chain: physical movement / button input → optical and mechanical sensing → MCU processing → wireless packet → USB receiver → computer.</a:t>
            </a:r>
          </a:p>
          <a:p>
            <a:pPr>
              <a:spcAft>
                <a:spcPts val="5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Analysis: the important part is not any single component; it is the coordination of all four subsystems under small size and low-power constraints.</a:t>
            </a:r>
          </a:p>
        </p:txBody>
      </p:sp>
      <p:pic>
        <p:nvPicPr>
          <p:cNvPr id="7" name="Picture 6" descr="_ppt_photo_m150_teardown_photo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592" y="1417320"/>
            <a:ext cx="2700000" cy="3543750"/>
          </a:xfrm>
          <a:prstGeom prst="roundRect">
            <a:avLst>
              <a:gd name="adj" fmla="val 3500"/>
            </a:avLst>
          </a:prstGeom>
          <a:ln w="12700">
            <a:solidFill>
              <a:srgbClr val="D6CCB8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8894592" y="5051070"/>
            <a:ext cx="27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>
                <a:solidFill>
                  <a:srgbClr val="8A8070"/>
                </a:solidFill>
                <a:latin typeface="Calibri"/>
              </a:rPr>
              <a:t>Teardown view — internal mechanical structure and PCB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4. EXTERNAL FEATURES &amp; PHYSICAL INSPECTION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8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747000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Physical construct: wireless USB-dongle based mouse.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The first step is observation before opening the product. The external form already gives clues about the intended use and internal architecture.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Compact enclosure: the 102 × 62 × 37 mm size places strong limits on how the battery, switches, sensor, controller and RF hardware can be arranged.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User interface: buttons and scroll control provide mechanical inputs, while the optical tracking area senses movement over a surface.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Wireless interface: a USB receiver is used instead of a permanent cable, making the mouse portable and reducing desktop cable clutter.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Engineering inference: even without opening it, the product can be viewed as a small embedded system combining mechanical input, sensing, processing, communication and power management.</a:t>
            </a:r>
          </a:p>
        </p:txBody>
      </p:sp>
      <p:pic>
        <p:nvPicPr>
          <p:cNvPr id="20" name="Picture 6" descr="Logitech M150 exterio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592" y="1417320"/>
            <a:ext cx="2700000" cy="3779999"/>
          </a:xfrm>
          <a:prstGeom prst="roundRect">
            <a:avLst>
              <a:gd name="adj" fmla="val 3500"/>
            </a:avLst>
          </a:prstGeom>
          <a:ln w="12700">
            <a:solidFill>
              <a:srgbClr val="D6CCB8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8894592" y="5287320"/>
            <a:ext cx="27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>
                <a:solidFill>
                  <a:srgbClr val="8A8070"/>
                </a:solidFill>
                <a:latin typeface="Calibri"/>
              </a:rPr>
              <a:t>External inspection — Logitech mouse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5. MODES OF OPERATION &amp; POWER MANAGEMENT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11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69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ACTIVE MODE — Full power is available for real-time tracking and click transmission while the user is actively using the mouse.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STANDBY MODE — After a short period of stillness, sensor activity is reduced while the system remains ready to respond quickly.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DEEP SLEEP MODE — After longer inactivity, most internal functions enter a very low-power state. Movement or a physical input can wake the device.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PAIRING MODE — The wireless subsystem becomes active while establishing communication with the USB receiver.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Why this matters: a battery-powered mouse cannot stay at maximum activity all the time. The designer has to balance responsiveness against energy consumption.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Engineering trade-off: aggressive sleep saves more energy but can increase wake-up delay; remaining active gives better readiness but reduces battery life.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6. PRODUCT EVOLUTION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11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69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EARLY MECHANICAL BALL MICE — X/Y rollers were driven by a rubberized ball. They provided basic coordinate tracking but had mechanical wear and contamination problems.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EARLY OPTICAL / INFRARED WIRELESS — Optical sensing removed many moving tracking parts. Early optical systems could require suitable surfaces, while early wireless links had limitations such as line-of-sight and signal lag.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SECOND GENERATION 2.4 GHz RF — Standard 2.4 GHz wireless communication made desktop use more practical and reduced dependence on line-of-sight positioning. Optical sensors also became more usable on ordinary opaque surfaces.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MODERN OFFICE MICE — Compact receivers, improved optical sensors and intelligent power management combine mobility, tracking and battery efficiency.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Main pattern in the evolution: remove mechanical failure points, improve wireless usability, reduce receiver size, improve sensing and control power consumption.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7. CURRENT TECHNOLOGIES &amp; ENGINEERING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11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69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INTELLIGENT POWER-SAVING — Hardware/firmware timing allows automatic transitions between Active, Standby and Deep Sleep, reducing idle battery drain.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ADAPTIVE FREQUENCY-HOPPING (FHSS) — The 2.4 GHz subsystem can change channels in the ISM band to reduce the effect of nearby wireless interference.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SWITCH DEBOUNCING — Mechanical switches can create several rapid electrical transitions around one physical press. Firmware filtering helps interpret the event as one intended click.</a:t>
            </a:r>
          </a:p>
          <a:p>
            <a:pPr>
              <a:spcAft>
                <a:spcPts val="900"/>
              </a:spcAft>
            </a:pPr>
            <a:r>
              <a:rPr lang="en-US" sz="1500" b="1">
                <a:solidFill>
                  <a:srgbClr val="7A6A52"/>
                </a:solidFill>
                <a:latin typeface="Calibri"/>
              </a:rPr>
              <a:t>MAJOR TRADE-OFFS: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Power vs performance: higher sensor/RF activity improves readiness but consumes more energy.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Wireless mobility vs interference: removing the cable introduces radio interference as a design concern.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Accuracy vs surface compatibility: optical tracking works well on many surfaces but can struggle on reflective, glossy or transparent glass.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• Size vs integration: electronics, battery and mechanical parts must fit within a compact enclosure.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8. TEARDOWN &amp; COMPONENT FUNCTION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8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_ppt_photo_m150_teardown_photo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592" y="960120"/>
            <a:ext cx="2599629" cy="2796540"/>
          </a:xfrm>
          <a:prstGeom prst="roundRect">
            <a:avLst>
              <a:gd name="adj" fmla="val 3500"/>
            </a:avLst>
          </a:prstGeom>
          <a:ln w="12700">
            <a:solidFill>
              <a:srgbClr val="D6CCB8"/>
            </a:solidFill>
          </a:ln>
          <a:effectLst/>
        </p:spPr>
      </p:pic>
      <p:sp>
        <p:nvSpPr>
          <p:cNvPr id="9" name="TextBox 8"/>
          <p:cNvSpPr txBox="1"/>
          <p:nvPr/>
        </p:nvSpPr>
        <p:spPr>
          <a:xfrm>
            <a:off x="10029938" y="3864634"/>
            <a:ext cx="27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rgbClr val="8A8070"/>
                </a:solidFill>
                <a:latin typeface="Calibri"/>
              </a:rPr>
              <a:t>PCB close-up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2030" y="6345936"/>
            <a:ext cx="270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00" i="1" dirty="0">
                <a:solidFill>
                  <a:srgbClr val="8A8070"/>
                </a:solidFill>
                <a:latin typeface="Calibri"/>
              </a:rPr>
              <a:t>Component-side PCB</a:t>
            </a:r>
          </a:p>
        </p:txBody>
      </p:sp>
      <p:sp>
        <p:nvSpPr>
          <p:cNvPr id="2050" name="AutoShape 2" descr="blob:https://web.whatsapp.com/d728e4ac-e02f-4e14-ae6a-b6c07421ca3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2" name="AutoShape 4" descr="blob:https://web.whatsapp.com/d728e4ac-e02f-4e14-ae6a-b6c07421ca3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54" name="AutoShape 6" descr="blob:https://web.whatsapp.com/d728e4ac-e02f-4e14-ae6a-b6c07421ca3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5" name="Picture 7" descr="C:\Users\Asus\OneDrive\Documents\WhatsApp Image 2026-10-07 at 10.50.13 AM.jpe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894592" y="4353911"/>
            <a:ext cx="2485346" cy="18640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B372F">
                <a:alpha val="65000"/>
              </a:srgbClr>
            </a:outerShdw>
          </a:effectLst>
        </p:spPr>
      </p:pic>
      <p:graphicFrame>
        <p:nvGraphicFramePr>
          <p:cNvPr id="8" name="Table 7">
            <a:extLst>
              <a:ext uri="{FF2B5EF4-FFF2-40B4-BE49-F238E27FC236}">
                <a16:creationId xmlns="" xmlns:a16="http://schemas.microsoft.com/office/drawing/2014/main" id="{D9C4CE9A-7C0E-CF16-9987-1A1EF4FB39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760497964"/>
              </p:ext>
            </p:extLst>
          </p:nvPr>
        </p:nvGraphicFramePr>
        <p:xfrm>
          <a:off x="530352" y="1428878"/>
          <a:ext cx="8064240" cy="4800599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688080">
                  <a:extLst>
                    <a:ext uri="{9D8B030D-6E8A-4147-A177-3AD203B41FA5}">
                      <a16:colId xmlns="" xmlns:a16="http://schemas.microsoft.com/office/drawing/2014/main" val="2768184860"/>
                    </a:ext>
                  </a:extLst>
                </a:gridCol>
                <a:gridCol w="2688080">
                  <a:extLst>
                    <a:ext uri="{9D8B030D-6E8A-4147-A177-3AD203B41FA5}">
                      <a16:colId xmlns="" xmlns:a16="http://schemas.microsoft.com/office/drawing/2014/main" val="3011522107"/>
                    </a:ext>
                  </a:extLst>
                </a:gridCol>
                <a:gridCol w="2688080">
                  <a:extLst>
                    <a:ext uri="{9D8B030D-6E8A-4147-A177-3AD203B41FA5}">
                      <a16:colId xmlns="" xmlns:a16="http://schemas.microsoft.com/office/drawing/2014/main" val="3020822145"/>
                    </a:ext>
                  </a:extLst>
                </a:gridCol>
              </a:tblGrid>
              <a:tr h="2748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3B372F"/>
                          </a:solidFill>
                          <a:latin typeface="Calibri"/>
                        </a:rPr>
                        <a:t>Ref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E8DF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3B372F"/>
                          </a:solidFill>
                          <a:latin typeface="Calibri"/>
                        </a:rPr>
                        <a:t>Component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E8DFC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solidFill>
                            <a:srgbClr val="3B372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E8DFCB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94158788"/>
                  </a:ext>
                </a:extLst>
              </a:tr>
              <a:tr h="1070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U1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20-pin QFN IC, marked "NRF 31502A 2210JQ"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2.4 GHz RF transceiver/MCU (Nordic nRF-family type). The date code suggests it was made in week 10 of 2022.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45929833"/>
                  </a:ext>
                </a:extLst>
              </a:tr>
              <a:tr h="482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Optical sensor (black 8-pin package over the cutout)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Optical navigation sensor, likely PixArt-type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Tracks surface movement using an LED and lens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010259907"/>
                  </a:ext>
                </a:extLst>
              </a:tr>
              <a:tr h="482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R2, R3, R37, R38, JP2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Zero-ohm links, marked "000" and "0000"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Configuration jumpers for design variants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98120010"/>
                  </a:ext>
                </a:extLst>
              </a:tr>
              <a:tr h="66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C1, C2, C7, C8, C12, C13, C25, C27, C33 and others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Ceramic SMD capacitors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Power decoupling and filtering around the RF IC and sensor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99313110"/>
                  </a:ext>
                </a:extLst>
              </a:tr>
              <a:tr h="66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TP1 (VMCU), TP2 (GND)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Test points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Probing the supply rail and ground during testing and programming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82383469"/>
                  </a:ext>
                </a:extLst>
              </a:tr>
              <a:tr h="6690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Pad groups (round and square solder pads)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Switch, scroll-encoder and battery/wire connections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Contacts for the micro-switches, scroll wheel and power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437528284"/>
                  </a:ext>
                </a:extLst>
              </a:tr>
              <a:tr h="4827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Large cutout (right)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>
                          <a:solidFill>
                            <a:srgbClr val="3B372F"/>
                          </a:solidFill>
                          <a:latin typeface="Calibri"/>
                        </a:rPr>
                        <a:t>Scroll-wheel slot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>
                          <a:solidFill>
                            <a:srgbClr val="3B372F"/>
                          </a:solidFill>
                          <a:latin typeface="Calibri"/>
                        </a:rPr>
                        <a:t>Holds the wheel and encoder assembly</a:t>
                      </a:r>
                    </a:p>
                  </a:txBody>
                  <a:tcPr marL="63746" marR="63746" marT="31873" marB="31873" anchor="ctr">
                    <a:lnL w="6350">
                      <a:solidFill>
                        <a:srgbClr val="DDD3BF"/>
                      </a:solidFill>
                    </a:lnL>
                    <a:lnR w="6350">
                      <a:solidFill>
                        <a:srgbClr val="DDD3BF"/>
                      </a:solidFill>
                    </a:lnR>
                    <a:lnT w="6350">
                      <a:solidFill>
                        <a:srgbClr val="DDD3BF"/>
                      </a:solidFill>
                    </a:lnT>
                    <a:lnB w="6350">
                      <a:solidFill>
                        <a:srgbClr val="DDD3BF"/>
                      </a:solidFill>
                    </a:lnB>
                    <a:solidFill>
                      <a:srgbClr val="FAF7F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3054787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1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56032"/>
            <a:ext cx="11155680" cy="32004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9. RECONSTRUCTED CIRCUIT / FUNCTIONAL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58368"/>
            <a:ext cx="10972800" cy="292608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>
              <a:spcAft>
                <a:spcPts val="400"/>
              </a:spcAft>
              <a:defRPr sz="900" b="0">
                <a:solidFill>
                  <a:srgbClr val="686052"/>
                </a:solidFill>
                <a:latin typeface="Aptos"/>
              </a:defRPr>
            </a:pPr>
            <a:r>
              <a:t>Logitech M150 teardown — functional relationships inferred from the observed PCB and report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43000"/>
            <a:ext cx="2011680" cy="4069080"/>
          </a:xfrm>
          <a:prstGeom prst="rect">
            <a:avLst/>
          </a:prstGeom>
          <a:noFill/>
          <a:ln w="12700">
            <a:solidFill>
              <a:srgbClr val="807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04088" y="1216152"/>
            <a:ext cx="179222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6052"/>
                </a:solidFill>
                <a:latin typeface="Aptos"/>
              </a:defRPr>
            </a:pPr>
            <a:r>
              <a:t>POWER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88920" y="1143000"/>
            <a:ext cx="2880360" cy="4069080"/>
          </a:xfrm>
          <a:prstGeom prst="rect">
            <a:avLst/>
          </a:prstGeom>
          <a:noFill/>
          <a:ln w="12700">
            <a:solidFill>
              <a:srgbClr val="807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898648" y="1216152"/>
            <a:ext cx="266090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6052"/>
                </a:solidFill>
                <a:latin typeface="Aptos"/>
              </a:defRPr>
            </a:pPr>
            <a:r>
              <a:t>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0" y="1143000"/>
            <a:ext cx="2331720" cy="4069080"/>
          </a:xfrm>
          <a:prstGeom prst="rect">
            <a:avLst/>
          </a:prstGeom>
          <a:noFill/>
          <a:ln w="12700">
            <a:solidFill>
              <a:srgbClr val="807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61888" y="1216152"/>
            <a:ext cx="2112263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6052"/>
                </a:solidFill>
                <a:latin typeface="Aptos"/>
              </a:defRPr>
            </a:pPr>
            <a:r>
              <a:t>SENSING / INPUT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143000"/>
            <a:ext cx="3063240" cy="4069080"/>
          </a:xfrm>
          <a:prstGeom prst="rect">
            <a:avLst/>
          </a:prstGeom>
          <a:noFill/>
          <a:ln w="12700">
            <a:solidFill>
              <a:srgbClr val="8077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76488" y="1216152"/>
            <a:ext cx="2843784" cy="22860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1000" b="1">
                <a:solidFill>
                  <a:srgbClr val="686052"/>
                </a:solidFill>
                <a:latin typeface="Aptos"/>
              </a:defRPr>
            </a:pPr>
            <a:r>
              <a:t>WIRELESS LINK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" y="1691640"/>
            <a:ext cx="15087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100" b="1">
                <a:solidFill>
                  <a:srgbClr val="2D2B27"/>
                </a:solidFill>
                <a:latin typeface="Aptos"/>
              </a:defRPr>
            </a:pPr>
            <a:r>
              <a:t>AA battery</a:t>
            </a:r>
            <a:br/>
            <a:r>
              <a:t>(VBAT)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43200"/>
            <a:ext cx="15087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000" b="0">
                <a:solidFill>
                  <a:srgbClr val="2D2B27"/>
                </a:solidFill>
                <a:latin typeface="Aptos"/>
              </a:defRPr>
            </a:pPr>
            <a:r>
              <a:t>Power rail /</a:t>
            </a:r>
            <a:br/>
            <a:r>
              <a:t>regulation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41248" y="3794760"/>
            <a:ext cx="15087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900" b="0">
                <a:solidFill>
                  <a:srgbClr val="2D2B27"/>
                </a:solidFill>
                <a:latin typeface="Aptos"/>
              </a:defRPr>
            </a:pPr>
            <a:r>
              <a:t>C1, C2, C7…</a:t>
            </a:r>
            <a:br/>
            <a:r>
              <a:t>Decoupling caps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331720"/>
            <a:ext cx="0" cy="41148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1600200" y="3383280"/>
            <a:ext cx="0" cy="41148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154680" y="1828800"/>
            <a:ext cx="2148840" cy="914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100" b="1">
                <a:solidFill>
                  <a:srgbClr val="2D2B27"/>
                </a:solidFill>
                <a:latin typeface="Aptos"/>
              </a:defRPr>
            </a:pPr>
            <a:r>
              <a:t>nRF-family IC</a:t>
            </a:r>
            <a:br/>
            <a:r>
              <a:t>(marking observed on PCB)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337560"/>
            <a:ext cx="1965960" cy="5943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000" b="0">
                <a:solidFill>
                  <a:srgbClr val="2D2B27"/>
                </a:solidFill>
                <a:latin typeface="Aptos"/>
              </a:defRPr>
            </a:pPr>
            <a:r>
              <a:t>XT1 crystal / clock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4224528" y="2743200"/>
            <a:ext cx="0" cy="59436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063240" y="4251960"/>
            <a:ext cx="2331720" cy="411480"/>
          </a:xfrm>
          <a:prstGeom prst="rect">
            <a:avLst/>
          </a:prstGeom>
          <a:noFill/>
        </p:spPr>
        <p:txBody>
          <a:bodyPr wrap="square" lIns="36576" tIns="18288" rIns="36576" bIns="18288">
            <a:spAutoFit/>
          </a:bodyPr>
          <a:lstStyle/>
          <a:p>
            <a:pPr algn="ctr">
              <a:spcAft>
                <a:spcPts val="400"/>
              </a:spcAft>
              <a:defRPr sz="900" b="0">
                <a:solidFill>
                  <a:srgbClr val="686052"/>
                </a:solidFill>
                <a:latin typeface="Aptos"/>
              </a:defRPr>
            </a:pPr>
            <a:r>
              <a:t>Processes inputs and</a:t>
            </a:r>
          </a:p>
          <a:p>
            <a:pPr algn="ctr">
              <a:spcAft>
                <a:spcPts val="400"/>
              </a:spcAft>
              <a:defRPr sz="900" b="0">
                <a:solidFill>
                  <a:srgbClr val="686052"/>
                </a:solidFill>
                <a:latin typeface="Aptos"/>
              </a:defRPr>
            </a:pPr>
            <a:r>
              <a:t>handles radio functions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1783080"/>
            <a:ext cx="1737360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000" b="1">
                <a:solidFill>
                  <a:srgbClr val="2D2B27"/>
                </a:solidFill>
                <a:latin typeface="Aptos"/>
              </a:defRPr>
            </a:pPr>
            <a:r>
              <a:t>Optical sensor</a:t>
            </a:r>
            <a:br/>
            <a:r>
              <a:t>(package over cutout)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2880360"/>
            <a:ext cx="17373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000" b="0">
                <a:solidFill>
                  <a:srgbClr val="2D2B27"/>
                </a:solidFill>
                <a:latin typeface="Aptos"/>
              </a:defRPr>
            </a:pPr>
            <a:r>
              <a:t>Left / right</a:t>
            </a:r>
            <a:br/>
            <a:r>
              <a:t>switches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3886200"/>
            <a:ext cx="1737360" cy="640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000" b="0">
                <a:solidFill>
                  <a:srgbClr val="2D2B27"/>
                </a:solidFill>
                <a:latin typeface="Aptos"/>
              </a:defRPr>
            </a:pPr>
            <a:r>
              <a:t>Scroll wheel</a:t>
            </a:r>
            <a:br/>
            <a:r>
              <a:t>mechanism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5303520" y="2121408"/>
            <a:ext cx="841248" cy="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5303520" y="2514600"/>
            <a:ext cx="841248" cy="68580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 flipV="1">
            <a:off x="5303520" y="2514600"/>
            <a:ext cx="841248" cy="169164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68512" y="1828800"/>
            <a:ext cx="24688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100" b="1">
                <a:solidFill>
                  <a:srgbClr val="2D2B27"/>
                </a:solidFill>
                <a:latin typeface="Aptos"/>
              </a:defRPr>
            </a:pPr>
            <a:r>
              <a:t>2.4 GHz RF transmission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68512" y="3154680"/>
            <a:ext cx="2468880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1100" b="0">
                <a:solidFill>
                  <a:srgbClr val="2D2B27"/>
                </a:solidFill>
                <a:latin typeface="Aptos"/>
              </a:defRPr>
            </a:pPr>
            <a:r>
              <a:t>USB receiver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68512" y="4434840"/>
            <a:ext cx="246888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B70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27432" rtlCol="0" anchor="ctr"/>
          <a:lstStyle/>
          <a:p>
            <a:pPr algn="ctr">
              <a:defRPr sz="900" b="0">
                <a:solidFill>
                  <a:srgbClr val="2D2B27"/>
                </a:solidFill>
                <a:latin typeface="Aptos"/>
              </a:defRPr>
            </a:pPr>
            <a:r>
              <a:t>Computer / pointer movement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902952" y="2606040"/>
            <a:ext cx="0" cy="54864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902952" y="3931920"/>
            <a:ext cx="0" cy="502920"/>
          </a:xfrm>
          <a:prstGeom prst="line">
            <a:avLst/>
          </a:prstGeom>
          <a:ln w="19050">
            <a:solidFill>
              <a:srgbClr val="80776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2350008" y="2514600"/>
            <a:ext cx="804672" cy="548640"/>
          </a:xfrm>
          <a:prstGeom prst="line">
            <a:avLst/>
          </a:prstGeom>
          <a:ln w="15240">
            <a:solidFill>
              <a:srgbClr val="8B704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19456"/>
            <a:ext cx="11155680" cy="41148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10. SIMULATION CIRCUIT (SIMPLIFIED MODEL)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85800"/>
            <a:ext cx="10972800" cy="32004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000" b="0">
                <a:solidFill>
                  <a:srgbClr val="755B4D"/>
                </a:solidFill>
                <a:latin typeface="Aptos"/>
              </a:defRPr>
            </a:pPr>
            <a:r>
              <a:t>A small demonstrator circuit for showing input detection and status indication; not the proprietary mouse electronics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1828800" cy="9144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200" b="1">
                <a:solidFill>
                  <a:srgbClr val="382D27"/>
                </a:solidFill>
                <a:latin typeface="Aptos"/>
              </a:defRPr>
            </a:pPr>
            <a:r>
              <a:t>3.3 V supply</a:t>
            </a:r>
            <a:br/>
            <a:r>
              <a:t>(VCC)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417320"/>
            <a:ext cx="2194560" cy="9144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200" b="1">
                <a:solidFill>
                  <a:srgbClr val="382D27"/>
                </a:solidFill>
                <a:latin typeface="Aptos"/>
              </a:defRPr>
            </a:pPr>
            <a:r>
              <a:t>MCU / logic block</a:t>
            </a:r>
            <a:br/>
            <a:r>
              <a:t>(simulation)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417320"/>
            <a:ext cx="1828800" cy="91440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200" b="1">
                <a:solidFill>
                  <a:srgbClr val="382D27"/>
                </a:solidFill>
                <a:latin typeface="Aptos"/>
              </a:defRPr>
            </a:pPr>
            <a:r>
              <a:t>Status LED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606040" y="1874519"/>
            <a:ext cx="105156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852160" y="1874519"/>
            <a:ext cx="1645919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914400" y="3337560"/>
            <a:ext cx="1828800" cy="77724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0">
                <a:solidFill>
                  <a:srgbClr val="382D27"/>
                </a:solidFill>
                <a:latin typeface="Aptos"/>
              </a:defRPr>
            </a:pPr>
            <a:r>
              <a:t>SW1: Left click</a:t>
            </a:r>
            <a:br/>
            <a:r>
              <a:t>GPIO input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337560"/>
            <a:ext cx="1828800" cy="77724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0">
                <a:solidFill>
                  <a:srgbClr val="382D27"/>
                </a:solidFill>
                <a:latin typeface="Aptos"/>
              </a:defRPr>
            </a:pPr>
            <a:r>
              <a:t>SW2: Right click</a:t>
            </a:r>
            <a:br/>
            <a:r>
              <a:t>GPIO input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337560"/>
            <a:ext cx="1828800" cy="77724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100" b="0">
                <a:solidFill>
                  <a:srgbClr val="382D27"/>
                </a:solidFill>
                <a:latin typeface="Aptos"/>
              </a:defRPr>
            </a:pPr>
            <a:r>
              <a:t>SW3: Scroll input</a:t>
            </a:r>
            <a:br/>
            <a:r>
              <a:t>GPIO input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1828800" y="2606040"/>
            <a:ext cx="0" cy="73152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572000" y="2331720"/>
            <a:ext cx="0" cy="100584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315200" y="2331720"/>
            <a:ext cx="0" cy="100584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326880" y="3337560"/>
            <a:ext cx="1554480" cy="777240"/>
          </a:xfrm>
          <a:prstGeom prst="roundRect">
            <a:avLst/>
          </a:prstGeom>
          <a:solidFill>
            <a:srgbClr val="FFF9F1"/>
          </a:solidFill>
          <a:ln w="15240">
            <a:solidFill>
              <a:srgbClr val="9E77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54864" tIns="27432" rIns="54864" bIns="27432" rtlCol="0" anchor="ctr"/>
          <a:lstStyle/>
          <a:p>
            <a:pPr algn="ctr">
              <a:defRPr sz="1000" b="1">
                <a:solidFill>
                  <a:srgbClr val="382D27"/>
                </a:solidFill>
                <a:latin typeface="Aptos"/>
              </a:defRPr>
            </a:pPr>
            <a:r>
              <a:t>R1</a:t>
            </a:r>
            <a:br/>
            <a:r>
              <a:t>330 Ω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8412480" y="3730752"/>
            <a:ext cx="914400" cy="0"/>
          </a:xfrm>
          <a:prstGeom prst="line">
            <a:avLst/>
          </a:prstGeom>
          <a:ln w="17780">
            <a:solidFill>
              <a:srgbClr val="5C4F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2960" y="4800600"/>
            <a:ext cx="10607040" cy="731520"/>
          </a:xfrm>
          <a:prstGeom prst="rect">
            <a:avLst/>
          </a:prstGeom>
          <a:noFill/>
        </p:spPr>
        <p:txBody>
          <a:bodyPr wrap="square" lIns="54864" tIns="27432" rIns="54864" bIns="27432">
            <a:spAutoFit/>
          </a:bodyPr>
          <a:lstStyle/>
          <a:p>
            <a:pPr>
              <a:spcAft>
                <a:spcPts val="400"/>
              </a:spcAft>
              <a:defRPr sz="1100" b="0">
                <a:solidFill>
                  <a:srgbClr val="755B4D"/>
                </a:solidFill>
                <a:latin typeface="Aptos"/>
              </a:defRPr>
            </a:pPr>
            <a:r>
              <a:t>In KiCad, use a generic MCU symbol, three normally-open switches with pull-ups/pull-downs, and an LED with a series resistor. A true RF/optical-sensor simulation is outside this simplified model; label it clearly as a functional demonstration.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EC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02920" y="65836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 b="1">
                <a:solidFill>
                  <a:srgbClr val="382D27"/>
                </a:solidFill>
                <a:latin typeface="Aptos Display"/>
              </a:defRPr>
            </a:pPr>
            <a:r>
              <a:t>11. FINAL CONCLUSIONS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417320"/>
            <a:ext cx="11064240" cy="4800600"/>
          </a:xfrm>
          <a:prstGeom prst="roundRect">
            <a:avLst>
              <a:gd name="adj" fmla="val 5000"/>
            </a:avLst>
          </a:prstGeom>
          <a:solidFill>
            <a:srgbClr val="FAF7F0"/>
          </a:solidFill>
          <a:ln w="10160">
            <a:solidFill>
              <a:srgbClr val="DDD3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4698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lang="en-US" sz="1500" b="1">
                <a:solidFill>
                  <a:srgbClr val="7A6A52"/>
                </a:solidFill>
                <a:latin typeface="Calibri"/>
              </a:rPr>
              <a:t>LEVEL 1 — OBSERVATION: The product is a compact wireless optical mouse using a USB receiver.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LEVEL 2 — IDENTIFICATION: Its main functional areas are optical tracking, control/MCU processing, 2.4 GHz RF communication and power management.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LEVEL 3 — SPECIFICATION: The report provides physical dimensions and describes the technologies, operating modes and development stages. Exact internal IC specifications require physical evidence.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LEVEL 4 — FUNCTIONAL UNDERSTANDING: Movement and button actions become processed digital information, are transmitted wirelessly and are managed through different power states.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LEVEL 5 — ENGINEERING REASONING: The design choices balance usability, reliability and battery life against size, cost, interference and surface limitations.</a:t>
            </a:r>
          </a:p>
          <a:p>
            <a:pPr>
              <a:spcAft>
                <a:spcPts val="900"/>
              </a:spcAft>
            </a:pPr>
            <a:r>
              <a:rPr lang="en-US" sz="1500">
                <a:solidFill>
                  <a:srgbClr val="3B372F"/>
                </a:solidFill>
                <a:latin typeface="Calibri"/>
              </a:rPr>
              <a:t>Final conclusion: reverse engineering is not simply identifying parts. It is understanding the engineering decisions that connect mechanical design, sensing, embedded processing, wireless communication and power management into one working product.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vy Minimal">
  <a:themeElements>
    <a:clrScheme name="Navy Minimal">
      <a:dk1>
        <a:srgbClr val="0B1F3D"/>
      </a:dk1>
      <a:lt1>
        <a:srgbClr val="FFFFFF"/>
      </a:lt1>
      <a:dk2>
        <a:srgbClr val="112B52"/>
      </a:dk2>
      <a:lt2>
        <a:srgbClr val="E8EEF7"/>
      </a:lt2>
      <a:accent1>
        <a:srgbClr val="7A6A52"/>
      </a:accent1>
      <a:accent2>
        <a:srgbClr val="4A74B0"/>
      </a:accent2>
      <a:accent3>
        <a:srgbClr val="A9BCD9"/>
      </a:accent3>
      <a:accent4>
        <a:srgbClr val="2A4A7F"/>
      </a:accent4>
      <a:accent5>
        <a:srgbClr val="5B8FD4"/>
      </a:accent5>
      <a:accent6>
        <a:srgbClr val="C9D8EE"/>
      </a:accent6>
      <a:hlink>
        <a:srgbClr val="8DB8F0"/>
      </a:hlink>
      <a:folHlink>
        <a:srgbClr val="A9BCD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1565</Words>
  <Application>Microsoft Office PowerPoint</Application>
  <PresentationFormat>Custom</PresentationFormat>
  <Paragraphs>143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Navy Minimal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vivek banoula</dc:creator>
  <dc:description>generated using python-pptx</dc:description>
  <cp:lastModifiedBy>Asus</cp:lastModifiedBy>
  <cp:revision>59</cp:revision>
  <dcterms:created xsi:type="dcterms:W3CDTF">2013-01-27T09:14:16Z</dcterms:created>
  <dcterms:modified xsi:type="dcterms:W3CDTF">2026-10-10T03:41:46Z</dcterms:modified>
</cp:coreProperties>
</file>